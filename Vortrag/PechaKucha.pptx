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Folie mittels Klicken verschieben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 der Notizen mittels Klicken bearbeiten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&lt;Kopfzeile&gt;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&lt;Datum/Uhrzeit&gt;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4072EF8-6AB2-4E89-8CE4-CF69C26CA9AE}" type="slidenum"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&lt;Foliennummer&gt;</a:t>
            </a:fld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„In großen Organisationen liegt enormes Wissen in internen Wikis und Dokumentationen.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LLMs und Chatbots versprechen, dieses Wissen endlich zugänglich zu machen.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der Praxis zeigt sich jedoch schnell: Der Zugriff ist möglich – die Nutzbarkeit oft nicht.“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„Ein verbreiteter Ansatz ist Retrieval-Augmented Generation, kurz RAG.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Dokumente werden gesucht, relevante Textstücke an ein LLM übergeben und daraus Antworten generiert.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Das funktioniert gut – solange die Inhalte gut strukturiert sind.“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" name=""/>
          <p:cNvCxnSpPr>
            <a:stCxn id="106" idx="3"/>
            <a:endCxn id="106" idx="3"/>
          </p:cNvCxnSpPr>
          <p:nvPr/>
        </p:nvCxnSpPr>
        <p:spPr>
          <a:xfrm rot="16200000">
            <a:off x="7343280" y="2817000"/>
            <a:ext cx="360" cy="360"/>
          </a:xfrm>
          <a:prstGeom prst="curvedConnector2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09" name=""/>
          <p:cNvCxnSpPr>
            <a:stCxn id="106" idx="0"/>
            <a:endCxn id="106" idx="0"/>
          </p:cNvCxnSpPr>
          <p:nvPr/>
        </p:nvCxnSpPr>
        <p:spPr>
          <a:xfrm>
            <a:off x="3779640" y="812520"/>
            <a:ext cx="360" cy="36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10" name=""/>
          <p:cNvCxnSpPr>
            <a:stCxn id="106" idx="0"/>
            <a:endCxn id="106" idx="0"/>
          </p:cNvCxnSpPr>
          <p:nvPr/>
        </p:nvCxnSpPr>
        <p:spPr>
          <a:xfrm>
            <a:off x="3779640" y="812520"/>
            <a:ext cx="360" cy="36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cxnSp>
        <p:nvCxnSpPr>
          <p:cNvPr id="111" name=""/>
          <p:cNvCxnSpPr>
            <a:stCxn id="106" idx="0"/>
            <a:endCxn id="106" idx="0"/>
          </p:cNvCxnSpPr>
          <p:nvPr/>
        </p:nvCxnSpPr>
        <p:spPr>
          <a:xfrm>
            <a:off x="3779640" y="812520"/>
            <a:ext cx="360" cy="360"/>
          </a:xfrm>
          <a:prstGeom prst="straightConnector1">
            <a:avLst/>
          </a:prstGeom>
          <a:ln w="0">
            <a:solidFill>
              <a:srgbClr val="3465a4"/>
            </a:solidFill>
            <a:tailEnd len="med" type="triangle" w="med"/>
          </a:ln>
        </p:spPr>
      </p:cxnSp>
      <p:sp>
        <p:nvSpPr>
          <p:cNvPr id="112" name=""/>
          <p:cNvSpPr/>
          <p:nvPr/>
        </p:nvSpPr>
        <p:spPr>
          <a:xfrm>
            <a:off x="2160000" y="2700000"/>
            <a:ext cx="3240000" cy="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„Viele zentrale Inhalte liegen jedoch nicht als Fließtext vor, sondern als Tabellen, Listen oder Konfigurationen.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Genau hier entstehen die größten Probleme.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Antworten sind unvollständig, widersprüchlich oder schlicht falsch.“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„Intuitiv wird oft das Sprachmodell verdächtigt.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Meine Beobachtung war jedoch: Das Problem liegt weniger im LLM selbst,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sondern in der Art, wie Wissen für das Modell aufbereitet wird.“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„Daraus ergibt sich meine Forschungsfrage: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Inwiefern trägt eine LLM-gestützte semantische Kontextualisierung strukturierter Wiki-Inhalte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zur verbesserten Nutzbarkeit dieser Inhalte in RAG-Systemen bei?“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„Der zentrale Perspektivwechsel dieser Arbeit lautet: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Nicht das Sprachmodell wird optimiert, sondern die Wissensbasis.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Die Qualität der Antworten beginnt vor dem ersten Prompt.“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„Die Kernidee ist einfach: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Strukturierte Inhalte werden nicht direkt indiziert,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sondern zunächst in explizit kontextualisierten Fließtext überführt.“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„Ich spreche dabei 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bewusst von 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semantischer 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Kontextualisierung.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Ziel ist nicht 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Vereinheitlichung, 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sondern das Explizit-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Machen impliziter 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Bedeutungen.</a:t>
            </a:r>
            <a:br>
              <a:rPr sz="2000"/>
            </a:b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Das LLM soll nicht raten 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müssen, was eine </a:t>
            </a: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Tabelle meint.“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D4D898-6802-4D16-B258-838FDA5DC5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0D9E98-6C75-46B6-868B-0293B43E64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8F6165-5919-446F-A434-16D0FFAC1D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E40D84-9026-4069-8641-C45C03ED67E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27CC05-4AF3-46B1-BDF3-3E26293C4A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1142AE-C930-4FBC-AA7B-09EBCBCFAA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000610-5E68-477F-B408-A36F710315C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D916AD-4B40-4B5D-B9B0-C114BB534A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B4A090-C558-49F4-8E73-9B0E597744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8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E3C098-A9D0-4B18-8995-F61ABC5264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371071-E399-4EBD-ACA5-1B5F28D2C4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88A8B784-1A69-4ECD-A622-E1F1BE968C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de-DE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5877575-73A1-4AD8-9180-030565A394F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1"/>
          <p:cNvSpPr/>
          <p:nvPr/>
        </p:nvSpPr>
        <p:spPr>
          <a:xfrm>
            <a:off x="540000" y="3420000"/>
            <a:ext cx="5760000" cy="2520000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685800" y="4754880"/>
            <a:ext cx="462348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3c3c3c"/>
                </a:solidFill>
                <a:effectLst/>
                <a:uFillTx/>
                <a:latin typeface="Cambria"/>
              </a:rPr>
              <a:t>Wissen in Organisationen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ounded Rectangle 1"/>
          <p:cNvSpPr/>
          <p:nvPr/>
        </p:nvSpPr>
        <p:spPr>
          <a:xfrm>
            <a:off x="424080" y="3199680"/>
            <a:ext cx="2011320" cy="914040"/>
          </a:xfrm>
          <a:prstGeom prst="roundRect">
            <a:avLst>
              <a:gd name="adj" fmla="val 16667"/>
            </a:avLst>
          </a:prstGeom>
          <a:solidFill>
            <a:srgbClr val="dce1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3c3c3c"/>
                </a:solidFill>
                <a:effectLst/>
                <a:uFillTx/>
                <a:latin typeface="Adwaita Mono"/>
              </a:rPr>
              <a:t>Dokumente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dwaita Mono"/>
            </a:endParaRPr>
          </a:p>
        </p:txBody>
      </p:sp>
      <p:sp>
        <p:nvSpPr>
          <p:cNvPr id="75" name="Rounded Rectangle 2"/>
          <p:cNvSpPr/>
          <p:nvPr/>
        </p:nvSpPr>
        <p:spPr>
          <a:xfrm>
            <a:off x="2527200" y="3199680"/>
            <a:ext cx="2011320" cy="914040"/>
          </a:xfrm>
          <a:prstGeom prst="roundRect">
            <a:avLst>
              <a:gd name="adj" fmla="val 16667"/>
            </a:avLst>
          </a:prstGeom>
          <a:solidFill>
            <a:srgbClr val="dce1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3c3c3c"/>
                </a:solidFill>
                <a:effectLst/>
                <a:uFillTx/>
                <a:latin typeface="Adwaita Mono"/>
              </a:rPr>
              <a:t>Retrieval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dwaita Mono"/>
            </a:endParaRPr>
          </a:p>
        </p:txBody>
      </p:sp>
      <p:sp>
        <p:nvSpPr>
          <p:cNvPr id="76" name="Rounded Rectangle 3"/>
          <p:cNvSpPr/>
          <p:nvPr/>
        </p:nvSpPr>
        <p:spPr>
          <a:xfrm>
            <a:off x="4630320" y="3199680"/>
            <a:ext cx="2011320" cy="914040"/>
          </a:xfrm>
          <a:prstGeom prst="roundRect">
            <a:avLst>
              <a:gd name="adj" fmla="val 16667"/>
            </a:avLst>
          </a:prstGeom>
          <a:solidFill>
            <a:srgbClr val="dce1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3c3c3c"/>
                </a:solidFill>
                <a:effectLst/>
                <a:uFillTx/>
                <a:latin typeface="Adwaita Mono"/>
              </a:rPr>
              <a:t>LLM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dwaita Mono"/>
            </a:endParaRPr>
          </a:p>
        </p:txBody>
      </p:sp>
      <p:sp>
        <p:nvSpPr>
          <p:cNvPr id="77" name="Rounded Rectangle 4"/>
          <p:cNvSpPr/>
          <p:nvPr/>
        </p:nvSpPr>
        <p:spPr>
          <a:xfrm>
            <a:off x="6733440" y="3199680"/>
            <a:ext cx="2011320" cy="914040"/>
          </a:xfrm>
          <a:prstGeom prst="roundRect">
            <a:avLst>
              <a:gd name="adj" fmla="val 16667"/>
            </a:avLst>
          </a:prstGeom>
          <a:solidFill>
            <a:srgbClr val="dce1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3c3c3c"/>
                </a:solidFill>
                <a:effectLst/>
                <a:uFillTx/>
                <a:latin typeface="Adwaita Mono"/>
              </a:rPr>
              <a:t>Antwort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dwaita Mono"/>
            </a:endParaRPr>
          </a:p>
        </p:txBody>
      </p:sp>
      <p:sp>
        <p:nvSpPr>
          <p:cNvPr id="78" name="TextBox 3"/>
          <p:cNvSpPr/>
          <p:nvPr/>
        </p:nvSpPr>
        <p:spPr>
          <a:xfrm>
            <a:off x="640080" y="731520"/>
            <a:ext cx="703944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3c3c3c"/>
                </a:solidFill>
                <a:effectLst/>
                <a:uFillTx/>
                <a:latin typeface="Cambria"/>
              </a:rPr>
              <a:t>Retrieval-Augmented Generation (RAG)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Cambria"/>
            </a:endParaRPr>
          </a:p>
        </p:txBody>
      </p:sp>
      <p:sp>
        <p:nvSpPr>
          <p:cNvPr id="79" name="Chevron 1"/>
          <p:cNvSpPr/>
          <p:nvPr/>
        </p:nvSpPr>
        <p:spPr>
          <a:xfrm>
            <a:off x="2297880" y="3420000"/>
            <a:ext cx="402120" cy="506160"/>
          </a:xfrm>
          <a:prstGeom prst="chevron">
            <a:avLst>
              <a:gd name="adj" fmla="val 50000"/>
            </a:avLst>
          </a:prstGeom>
          <a:solidFill>
            <a:srgbClr val="b4b4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Chevron 6"/>
          <p:cNvSpPr/>
          <p:nvPr/>
        </p:nvSpPr>
        <p:spPr>
          <a:xfrm>
            <a:off x="4457880" y="3420000"/>
            <a:ext cx="402120" cy="506160"/>
          </a:xfrm>
          <a:prstGeom prst="chevron">
            <a:avLst>
              <a:gd name="adj" fmla="val 50000"/>
            </a:avLst>
          </a:prstGeom>
          <a:solidFill>
            <a:srgbClr val="b4b4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Chevron 7"/>
          <p:cNvSpPr/>
          <p:nvPr/>
        </p:nvSpPr>
        <p:spPr>
          <a:xfrm>
            <a:off x="6480000" y="3420000"/>
            <a:ext cx="402120" cy="506160"/>
          </a:xfrm>
          <a:prstGeom prst="chevron">
            <a:avLst>
              <a:gd name="adj" fmla="val 50000"/>
            </a:avLst>
          </a:prstGeom>
          <a:solidFill>
            <a:srgbClr val="b4b4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2"/>
          <p:cNvSpPr/>
          <p:nvPr/>
        </p:nvSpPr>
        <p:spPr>
          <a:xfrm>
            <a:off x="548640" y="2255040"/>
            <a:ext cx="3657240" cy="2742840"/>
          </a:xfrm>
          <a:prstGeom prst="rect">
            <a:avLst/>
          </a:prstGeom>
          <a:solidFill>
            <a:srgbClr val="dce1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360000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505050"/>
                </a:solidFill>
                <a:effectLst/>
                <a:uFillTx/>
                <a:latin typeface="Calibri"/>
              </a:rPr>
              <a:t>Port | Status | Owner</a:t>
            </a:r>
            <a:br>
              <a:rPr sz="1600"/>
            </a:br>
            <a:r>
              <a:rPr lang="en-US" sz="1600" b="0" u="none" strike="noStrike">
                <a:solidFill>
                  <a:srgbClr val="505050"/>
                </a:solidFill>
                <a:effectLst/>
                <a:uFillTx/>
                <a:latin typeface="Calibri"/>
              </a:rPr>
              <a:t>8080 | offen | Team A</a:t>
            </a:r>
            <a:br>
              <a:rPr sz="1600"/>
            </a:br>
            <a:r>
              <a:rPr lang="en-US" sz="1600" b="0" u="none" strike="noStrike">
                <a:solidFill>
                  <a:srgbClr val="505050"/>
                </a:solidFill>
                <a:effectLst/>
                <a:uFillTx/>
                <a:latin typeface="Calibri"/>
              </a:rPr>
              <a:t>443  | offen | Team B</a:t>
            </a:r>
            <a:endParaRPr lang="de-DE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584640" y="748080"/>
            <a:ext cx="68716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3c3c3c"/>
                </a:solidFill>
                <a:effectLst/>
                <a:uFillTx/>
                <a:latin typeface="Cambria"/>
              </a:rPr>
              <a:t>Strukturierte Inhalte sind das Problem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Cambria"/>
            </a:endParaRPr>
          </a:p>
        </p:txBody>
      </p:sp>
      <p:sp>
        <p:nvSpPr>
          <p:cNvPr id="84" name="Rounded Rectangle 12"/>
          <p:cNvSpPr/>
          <p:nvPr/>
        </p:nvSpPr>
        <p:spPr>
          <a:xfrm>
            <a:off x="4500000" y="2711520"/>
            <a:ext cx="3790440" cy="1788480"/>
          </a:xfrm>
          <a:prstGeom prst="roundRect">
            <a:avLst>
              <a:gd name="adj" fmla="val 16667"/>
            </a:avLst>
          </a:prstGeom>
          <a:solidFill>
            <a:srgbClr val="ebd2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783c3c"/>
                </a:solidFill>
                <a:effectLst/>
                <a:uFillTx/>
                <a:latin typeface="Calibri"/>
              </a:rPr>
              <a:t>Antwort: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783c3c"/>
                </a:solidFill>
                <a:effectLst/>
                <a:uFillTx/>
                <a:latin typeface="Calibri"/>
              </a:rPr>
              <a:t>„Kommt drauf an“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ounded Rectangle 6"/>
          <p:cNvSpPr/>
          <p:nvPr/>
        </p:nvSpPr>
        <p:spPr>
          <a:xfrm>
            <a:off x="914400" y="265968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d2e6d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285a32"/>
                </a:solidFill>
                <a:effectLst/>
                <a:uFillTx/>
                <a:latin typeface="Calibri"/>
              </a:rPr>
              <a:t>LLM</a:t>
            </a:r>
            <a:br>
              <a:rPr sz="2000"/>
            </a:br>
            <a:r>
              <a:rPr lang="en-US" sz="1500" b="0" u="none" strike="noStrike">
                <a:solidFill>
                  <a:srgbClr val="285a32"/>
                </a:solidFill>
                <a:effectLst/>
                <a:uFillTx/>
                <a:latin typeface="Calibri"/>
              </a:rPr>
              <a:t>✓ leistungsfähig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7"/>
          <p:cNvSpPr/>
          <p:nvPr/>
        </p:nvSpPr>
        <p:spPr>
          <a:xfrm>
            <a:off x="5029200" y="265968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ebd2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783c3c"/>
                </a:solidFill>
                <a:effectLst/>
                <a:uFillTx/>
                <a:latin typeface="Calibri"/>
              </a:rPr>
              <a:t>Wissensbasis</a:t>
            </a:r>
            <a:br>
              <a:rPr sz="2000"/>
            </a:br>
            <a:r>
              <a:rPr lang="en-US" sz="1500" b="0" u="none" strike="noStrike">
                <a:solidFill>
                  <a:srgbClr val="783c3c"/>
                </a:solidFill>
                <a:effectLst/>
                <a:uFillTx/>
                <a:latin typeface="Calibri"/>
              </a:rPr>
              <a:t>⚠ ungeeignet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Chevron 2"/>
          <p:cNvSpPr/>
          <p:nvPr/>
        </p:nvSpPr>
        <p:spPr>
          <a:xfrm>
            <a:off x="3749040" y="3116880"/>
            <a:ext cx="914040" cy="914040"/>
          </a:xfrm>
          <a:prstGeom prst="chevron">
            <a:avLst>
              <a:gd name="adj" fmla="val 50000"/>
            </a:avLst>
          </a:prstGeom>
          <a:solidFill>
            <a:srgbClr val="b4b4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914400" y="731520"/>
            <a:ext cx="60364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3c3c3c"/>
                </a:solidFill>
                <a:effectLst/>
                <a:uFillTx/>
                <a:latin typeface="Cambria"/>
              </a:rPr>
              <a:t>Das Problem liegt nicht im Modell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1097280" y="1005840"/>
            <a:ext cx="2237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787878"/>
                </a:solidFill>
                <a:effectLst/>
                <a:uFillTx/>
                <a:latin typeface="Adwaita Mono"/>
              </a:rPr>
              <a:t>Forschungsfrage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dwaita Mono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1097280" y="1645920"/>
            <a:ext cx="5141520" cy="22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3c3c3c"/>
                </a:solidFill>
                <a:effectLst/>
                <a:uFillTx/>
                <a:latin typeface="Calibri"/>
              </a:rPr>
              <a:t>Inwiefern trägt eine LLM-gestützte</a:t>
            </a:r>
            <a:br>
              <a:rPr sz="2800"/>
            </a:br>
            <a:r>
              <a:rPr lang="en-US" sz="2800" b="0" u="none" strike="noStrike">
                <a:solidFill>
                  <a:srgbClr val="3c3c3c"/>
                </a:solidFill>
                <a:effectLst/>
                <a:uFillTx/>
                <a:latin typeface="Calibri"/>
              </a:rPr>
              <a:t>semantische Kontextualisierung</a:t>
            </a:r>
            <a:br>
              <a:rPr sz="2800"/>
            </a:br>
            <a:r>
              <a:rPr lang="en-US" sz="2800" b="0" u="none" strike="noStrike">
                <a:solidFill>
                  <a:srgbClr val="3c3c3c"/>
                </a:solidFill>
                <a:effectLst/>
                <a:uFillTx/>
                <a:latin typeface="Calibri"/>
              </a:rPr>
              <a:t>strukturierter Wiki-Inhalte</a:t>
            </a:r>
            <a:br>
              <a:rPr sz="2800"/>
            </a:br>
            <a:r>
              <a:rPr lang="en-US" sz="2800" b="0" u="none" strike="noStrike">
                <a:solidFill>
                  <a:srgbClr val="3c3c3c"/>
                </a:solidFill>
                <a:effectLst/>
                <a:uFillTx/>
                <a:latin typeface="Calibri"/>
              </a:rPr>
              <a:t>zur verbesserten Nutzbarkeit</a:t>
            </a:r>
            <a:br>
              <a:rPr sz="2800"/>
            </a:br>
            <a:r>
              <a:rPr lang="en-US" sz="2800" b="0" u="none" strike="noStrike">
                <a:solidFill>
                  <a:srgbClr val="3c3c3c"/>
                </a:solidFill>
                <a:effectLst/>
                <a:uFillTx/>
                <a:latin typeface="Calibri"/>
              </a:rPr>
              <a:t>in RAG-Systemen bei?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ounded Rectangle 5"/>
          <p:cNvSpPr/>
          <p:nvPr/>
        </p:nvSpPr>
        <p:spPr>
          <a:xfrm>
            <a:off x="731520" y="2734560"/>
            <a:ext cx="2742840" cy="164556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8c8c8c"/>
                </a:solidFill>
                <a:effectLst/>
                <a:uFillTx/>
                <a:latin typeface="Calibri"/>
              </a:rPr>
              <a:t>LLM</a:t>
            </a:r>
            <a:br>
              <a:rPr sz="1800"/>
            </a:br>
            <a:r>
              <a:rPr lang="en-US" sz="1500" b="0" u="none" strike="noStrike">
                <a:solidFill>
                  <a:srgbClr val="8c8c8c"/>
                </a:solidFill>
                <a:effectLst/>
                <a:uFillTx/>
                <a:latin typeface="Adwaita Mono"/>
              </a:rPr>
              <a:t>(nicht Fokus)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8"/>
          <p:cNvSpPr/>
          <p:nvPr/>
        </p:nvSpPr>
        <p:spPr>
          <a:xfrm>
            <a:off x="4754880" y="2551680"/>
            <a:ext cx="2925720" cy="2011320"/>
          </a:xfrm>
          <a:prstGeom prst="roundRect">
            <a:avLst>
              <a:gd name="adj" fmla="val 16667"/>
            </a:avLst>
          </a:prstGeom>
          <a:solidFill>
            <a:srgbClr val="d2e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285078"/>
                </a:solidFill>
                <a:effectLst/>
                <a:uFillTx/>
                <a:latin typeface="Calibri"/>
              </a:rPr>
              <a:t>Wissensbasis</a:t>
            </a:r>
            <a:br>
              <a:rPr sz="2000"/>
            </a:br>
            <a:r>
              <a:rPr lang="en-US" sz="1500" b="0" u="none" strike="noStrike">
                <a:solidFill>
                  <a:srgbClr val="285078"/>
                </a:solidFill>
                <a:effectLst/>
                <a:uFillTx/>
                <a:latin typeface="Adwaita Mono"/>
              </a:rPr>
              <a:t>(Fokus der Arbeit)</a:t>
            </a:r>
            <a:endParaRPr lang="de-DE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Chevron 3"/>
          <p:cNvSpPr/>
          <p:nvPr/>
        </p:nvSpPr>
        <p:spPr>
          <a:xfrm>
            <a:off x="3566160" y="3191760"/>
            <a:ext cx="914040" cy="914040"/>
          </a:xfrm>
          <a:prstGeom prst="chevron">
            <a:avLst>
              <a:gd name="adj" fmla="val 50000"/>
            </a:avLst>
          </a:prstGeom>
          <a:solidFill>
            <a:srgbClr val="b4b4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7"/>
          <p:cNvSpPr/>
          <p:nvPr/>
        </p:nvSpPr>
        <p:spPr>
          <a:xfrm>
            <a:off x="731520" y="822960"/>
            <a:ext cx="76402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3c3c3c"/>
                </a:solidFill>
                <a:effectLst/>
                <a:uFillTx/>
                <a:latin typeface="Cambria"/>
              </a:rPr>
              <a:t>Perspektivwechsel: Wissensrepräsentation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Cambri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8"/>
          <p:cNvSpPr/>
          <p:nvPr/>
        </p:nvSpPr>
        <p:spPr>
          <a:xfrm>
            <a:off x="731520" y="822960"/>
            <a:ext cx="362160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3c3c3c"/>
                </a:solidFill>
                <a:effectLst/>
                <a:uFillTx/>
                <a:latin typeface="Cambria"/>
              </a:rPr>
              <a:t>Kernidee der Arbeit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9"/>
          <p:cNvSpPr/>
          <p:nvPr/>
        </p:nvSpPr>
        <p:spPr>
          <a:xfrm>
            <a:off x="822960" y="2286000"/>
            <a:ext cx="2194200" cy="1828440"/>
          </a:xfrm>
          <a:prstGeom prst="roundRect">
            <a:avLst>
              <a:gd name="adj" fmla="val 16667"/>
            </a:avLst>
          </a:prstGeom>
          <a:solidFill>
            <a:srgbClr val="dce1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Struktur</a:t>
            </a:r>
            <a:endParaRPr lang="de-DE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5a5a"/>
                </a:solidFill>
                <a:effectLst/>
                <a:uFillTx/>
                <a:latin typeface="Adwaita Mono"/>
              </a:rPr>
              <a:t>Tabellen</a:t>
            </a:r>
            <a:br>
              <a:rPr sz="1100"/>
            </a:br>
            <a:r>
              <a:rPr lang="en-US" sz="1100" b="0" u="none" strike="noStrike">
                <a:solidFill>
                  <a:srgbClr val="5a5a5a"/>
                </a:solidFill>
                <a:effectLst/>
                <a:uFillTx/>
                <a:latin typeface="Adwaita Mono"/>
              </a:rPr>
              <a:t>Listen</a:t>
            </a:r>
            <a:br>
              <a:rPr sz="1100"/>
            </a:br>
            <a:r>
              <a:rPr lang="en-US" sz="1100" b="0" u="none" strike="noStrike">
                <a:solidFill>
                  <a:srgbClr val="5a5a5a"/>
                </a:solidFill>
                <a:effectLst/>
                <a:uFillTx/>
                <a:latin typeface="Adwaita Mono"/>
              </a:rPr>
              <a:t>Configs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ounded Rectangle 10"/>
          <p:cNvSpPr/>
          <p:nvPr/>
        </p:nvSpPr>
        <p:spPr>
          <a:xfrm>
            <a:off x="3566160" y="2286000"/>
            <a:ext cx="2194200" cy="1828440"/>
          </a:xfrm>
          <a:prstGeom prst="roundRect">
            <a:avLst>
              <a:gd name="adj" fmla="val 16667"/>
            </a:avLst>
          </a:prstGeom>
          <a:solidFill>
            <a:srgbClr val="dce1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Bedeutung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5a5a"/>
                </a:solidFill>
                <a:effectLst/>
                <a:uFillTx/>
                <a:latin typeface="Adwaita Mono"/>
              </a:rPr>
              <a:t>implizit → explizit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11"/>
          <p:cNvSpPr/>
          <p:nvPr/>
        </p:nvSpPr>
        <p:spPr>
          <a:xfrm>
            <a:off x="6309360" y="2286000"/>
            <a:ext cx="2194200" cy="1828440"/>
          </a:xfrm>
          <a:prstGeom prst="roundRect">
            <a:avLst>
              <a:gd name="adj" fmla="val 16667"/>
            </a:avLst>
          </a:prstGeom>
          <a:solidFill>
            <a:srgbClr val="dce1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600" b="0" u="none" strike="noStrike">
                <a:solidFill>
                  <a:srgbClr val="282828"/>
                </a:solidFill>
                <a:effectLst/>
                <a:uFillTx/>
                <a:latin typeface="Calibri"/>
              </a:rPr>
              <a:t>Text</a:t>
            </a:r>
            <a:endParaRPr lang="de-DE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a5a5a"/>
                </a:solidFill>
                <a:effectLst/>
                <a:uFillTx/>
                <a:latin typeface="Adwaita Mono"/>
              </a:rPr>
              <a:t>kontextualisierter</a:t>
            </a:r>
            <a:br>
              <a:rPr sz="1100"/>
            </a:br>
            <a:r>
              <a:rPr lang="en-US" sz="1100" b="0" u="none" strike="noStrike">
                <a:solidFill>
                  <a:srgbClr val="5a5a5a"/>
                </a:solidFill>
                <a:effectLst/>
                <a:uFillTx/>
                <a:latin typeface="Adwaita Mono"/>
              </a:rPr>
              <a:t>Fließtext</a:t>
            </a:r>
            <a:endParaRPr lang="de-DE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Chevron 4"/>
          <p:cNvSpPr/>
          <p:nvPr/>
        </p:nvSpPr>
        <p:spPr>
          <a:xfrm>
            <a:off x="3017520" y="2834640"/>
            <a:ext cx="731160" cy="731160"/>
          </a:xfrm>
          <a:prstGeom prst="chevron">
            <a:avLst>
              <a:gd name="adj" fmla="val 50000"/>
            </a:avLst>
          </a:prstGeom>
          <a:solidFill>
            <a:srgbClr val="b4b4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Chevron 5"/>
          <p:cNvSpPr/>
          <p:nvPr/>
        </p:nvSpPr>
        <p:spPr>
          <a:xfrm>
            <a:off x="5760720" y="2834640"/>
            <a:ext cx="731160" cy="731160"/>
          </a:xfrm>
          <a:prstGeom prst="chevron">
            <a:avLst>
              <a:gd name="adj" fmla="val 50000"/>
            </a:avLst>
          </a:prstGeom>
          <a:solidFill>
            <a:srgbClr val="b4b4b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9"/>
          <p:cNvSpPr/>
          <p:nvPr/>
        </p:nvSpPr>
        <p:spPr>
          <a:xfrm>
            <a:off x="731520" y="822960"/>
            <a:ext cx="5769360" cy="57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3c3c3c"/>
                </a:solidFill>
                <a:effectLst/>
                <a:uFillTx/>
                <a:latin typeface="Cambria"/>
              </a:rPr>
              <a:t>Semantische Kontextualisierung</a:t>
            </a:r>
            <a:endParaRPr lang="de-DE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3"/>
          <p:cNvSpPr/>
          <p:nvPr/>
        </p:nvSpPr>
        <p:spPr>
          <a:xfrm>
            <a:off x="822960" y="2194560"/>
            <a:ext cx="3291480" cy="2194200"/>
          </a:xfrm>
          <a:prstGeom prst="roundRect">
            <a:avLst>
              <a:gd name="adj" fmla="val 16667"/>
            </a:avLst>
          </a:prstGeom>
          <a:solidFill>
            <a:srgbClr val="d2e6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285078"/>
                </a:solidFill>
                <a:effectLst/>
                <a:uFillTx/>
                <a:latin typeface="Calibri"/>
              </a:rPr>
              <a:t>Bedeutung explizit machen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c3c3c"/>
                </a:solidFill>
                <a:effectLst/>
                <a:uFillTx/>
                <a:latin typeface="Calibri"/>
              </a:rPr>
              <a:t>implizite Struktur → verständlicher Text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4"/>
          <p:cNvSpPr/>
          <p:nvPr/>
        </p:nvSpPr>
        <p:spPr>
          <a:xfrm>
            <a:off x="4754880" y="2194560"/>
            <a:ext cx="3291480" cy="2194200"/>
          </a:xfrm>
          <a:prstGeom prst="roundRect">
            <a:avLst>
              <a:gd name="adj" fmla="val 16667"/>
            </a:avLst>
          </a:prstGeom>
          <a:solidFill>
            <a:srgbClr val="ebe1d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785028"/>
                </a:solidFill>
                <a:effectLst/>
                <a:uFillTx/>
                <a:latin typeface="Calibri"/>
              </a:rPr>
              <a:t>≠ Normalisierung</a:t>
            </a:r>
            <a:endParaRPr lang="de-DE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03c28"/>
                </a:solidFill>
                <a:effectLst/>
                <a:uFillTx/>
                <a:latin typeface="Calibri"/>
              </a:rPr>
              <a:t>keine reine Vereinheitlichung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Application>LibreOffice/25.8.4.2$Linux_X86_64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de-DE</dc:language>
  <cp:lastModifiedBy/>
  <dcterms:modified xsi:type="dcterms:W3CDTF">2026-02-05T14:53:49Z</dcterms:modified>
  <cp:revision>24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